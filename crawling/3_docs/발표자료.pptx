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914400"/>
            <a:ext cx="1371600" cy="137160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0" y="914400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맑은 고딕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맑은 고딕"/>
              </a:rPr>
              <a:t>화장품 리뷰 감성분석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360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E0A92A"/>
                </a:solidFill>
                <a:latin typeface="맑은 고딕"/>
              </a:rPr>
              <a:t>무신사 · 올리브영 · 쿠팡 리뷰로 학습한 긍정/부정 분류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8CFE8"/>
                </a:solidFill>
                <a:latin typeface="맑은 고딕"/>
              </a:rPr>
              <a:t>AI 서비스 개발 프로젝트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F3C7E"/>
                </a:solidFill>
                <a:latin typeface="맑은 고딕"/>
              </a:rPr>
              <a:t>01. 데이터 수집 과정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475488"/>
          </a:xfrm>
          <a:prstGeom prst="rect">
            <a:avLst/>
          </a:prstGeom>
          <a:solidFill>
            <a:srgbClr val="2F3C7E"/>
          </a:solidFill>
          <a:ln w="9525">
            <a:solidFill>
              <a:srgbClr val="E2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463040"/>
            <a:ext cx="1280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건수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1463040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방식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38528"/>
            <a:ext cx="5120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무신사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938528"/>
            <a:ext cx="1280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231,029건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938528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직접 크롤링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14016"/>
            <a:ext cx="5120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올리브영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414016"/>
            <a:ext cx="1280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222,451건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414016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임현우 크롤링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89504"/>
            <a:ext cx="5120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89504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쿠팡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889504"/>
            <a:ext cx="1280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78,484건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889504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김동호 크롤링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364992"/>
            <a:ext cx="5120640" cy="475488"/>
          </a:xfrm>
          <a:prstGeom prst="rect">
            <a:avLst/>
          </a:prstGeom>
          <a:solidFill>
            <a:srgbClr val="F4F5F9"/>
          </a:solidFill>
          <a:ln w="9525">
            <a:solidFill>
              <a:srgbClr val="E2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64992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F3C7E"/>
                </a:solidFill>
                <a:latin typeface="맑은 고딕"/>
              </a:rPr>
              <a:t>합계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364992"/>
            <a:ext cx="12801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F3C7E"/>
                </a:solidFill>
                <a:latin typeface="맑은 고딕"/>
              </a:rPr>
              <a:t>531,964건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3364992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F3C7E"/>
                </a:solidFill>
                <a:latin typeface="맑은 고딕"/>
              </a:rPr>
              <a:t>3명 데이터 통합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148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48B"/>
                </a:solidFill>
                <a:latin typeface="맑은 고딕"/>
              </a:rPr>
              <a:t>총 50만 건이 넘는 리뷰를 3개 플랫폼에서 통합 수집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146304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96167"/>
                </a:solidFill>
                <a:latin typeface="맑은 고딕"/>
              </a:rPr>
              <a:t>어려움 ① 선택자 오류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993392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1293D"/>
                </a:solidFill>
                <a:latin typeface="맑은 고딕"/>
              </a:rPr>
              <a:t>React 기반 사이트라 처음 잡은 HTML 선택자가 모두 틀려 상품이 0개 검색됨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1293D"/>
                </a:solidFill>
                <a:latin typeface="맑은 고딕"/>
              </a:rPr>
              <a:t>→ 해결: 개발자도구로 직접 구조 분석, 실제 속성(data-item-id) 적용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063240"/>
            <a:ext cx="5394960" cy="1417320"/>
          </a:xfrm>
          <a:prstGeom prst="roundRect">
            <a:avLst>
              <a:gd name="adj" fmla="val 6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2278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96167"/>
                </a:solidFill>
                <a:latin typeface="맑은 고딕"/>
              </a:rPr>
              <a:t>어려움 ② 무한 페이지네이션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593592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1293D"/>
                </a:solidFill>
                <a:latin typeface="맑은 고딕"/>
              </a:rPr>
              <a:t>“이전 후기 보기” 클릭 시 같은 페이지를 무한 반복 크롤링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1293D"/>
                </a:solidFill>
                <a:latin typeface="맑은 고딕"/>
              </a:rPr>
              <a:t>→ 해결: 실제로는 무한스크롤 방식 → 스크롤 시뮬레이션으로 전환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F3C7E"/>
                </a:solidFill>
                <a:latin typeface="맑은 고딕"/>
              </a:rPr>
              <a:t>02. 라벨링 문제와 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48B"/>
                </a:solidFill>
                <a:latin typeface="맑은 고딕"/>
              </a:rPr>
              <a:t>긍정/부정 정답이 있어야 학습이 가능한데, 평점만 쓰면 부정 데이터가 거의 없었다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047" y="173736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8047" y="1737360"/>
            <a:ext cx="109728" cy="22860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8087" y="196596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96167"/>
                </a:solidFill>
                <a:latin typeface="맑은 고딕"/>
              </a:rPr>
              <a:t>0.4%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087" y="2743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F3C7E"/>
                </a:solidFill>
                <a:latin typeface="맑은 고딕"/>
              </a:rPr>
              <a:t>무신사 평점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087" y="3154680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1293D"/>
                </a:solidFill>
                <a:latin typeface="맑은 고딕"/>
              </a:rPr>
              <a:t>부정 리뷰가 거의 없음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1293D"/>
                </a:solidFill>
                <a:latin typeface="맑은 고딕"/>
              </a:rPr>
              <a:t>(만족도 높은 구매자만 평점)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9927" y="173736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49927" y="1737360"/>
            <a:ext cx="109728" cy="2286000"/>
          </a:xfrm>
          <a:prstGeom prst="rect">
            <a:avLst/>
          </a:prstGeom>
          <a:solidFill>
            <a:srgbClr val="E0A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9967" y="196596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E0A92A"/>
                </a:solidFill>
                <a:latin typeface="맑은 고딕"/>
              </a:rPr>
              <a:t>21.9%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9967" y="2743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F3C7E"/>
                </a:solidFill>
                <a:latin typeface="맑은 고딕"/>
              </a:rPr>
              <a:t>키워드 추측 (1차 시도)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9967" y="3154680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1293D"/>
                </a:solidFill>
                <a:latin typeface="맑은 고딕"/>
              </a:rPr>
              <a:t>부정 키워드로 직접 분류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1293D"/>
                </a:solidFill>
                <a:latin typeface="맑은 고딕"/>
              </a:rPr>
              <a:t>→ 오탐 다수 발생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1807" y="173736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1807" y="1737360"/>
            <a:ext cx="109728" cy="2286000"/>
          </a:xfrm>
          <a:prstGeom prst="rect">
            <a:avLst/>
          </a:prstGeom>
          <a:solidFill>
            <a:srgbClr val="12A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1847" y="196596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2A47E"/>
                </a:solidFill>
                <a:latin typeface="맑은 고딕"/>
              </a:rPr>
              <a:t>25.0%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1847" y="2743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F3C7E"/>
                </a:solidFill>
                <a:latin typeface="맑은 고딕"/>
              </a:rPr>
              <a:t>3사 통합 + 실제 평점 (최종)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847" y="3154680"/>
            <a:ext cx="2743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1293D"/>
                </a:solidFill>
                <a:latin typeface="맑은 고딕"/>
              </a:rPr>
              <a:t>올리브영·쿠팡은 부정 비율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1293D"/>
                </a:solidFill>
                <a:latin typeface="맑은 고딕"/>
              </a:rPr>
              <a:t>8~17%로 충분 → 통합 후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F3C7E"/>
                </a:solidFill>
                <a:latin typeface="맑은 고딕"/>
              </a:rPr>
              <a:t>최종 해결 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108813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450">
                <a:solidFill>
                  <a:srgbClr val="21293D"/>
                </a:solidFill>
                <a:latin typeface="맑은 고딕"/>
              </a:rPr>
              <a:t>•  팀원이 크롤링한 올리브영·쿠팡 데이터는 실제 평점 기준 부정 비율이 8~17%로 충분히 높았음</a:t>
            </a:r>
          </a:p>
          <a:p>
            <a:pPr>
              <a:spcAft>
                <a:spcPts val="700"/>
              </a:spcAft>
            </a:pPr>
            <a:r>
              <a:rPr sz="1450">
                <a:solidFill>
                  <a:srgbClr val="21293D"/>
                </a:solidFill>
                <a:latin typeface="맑은 고딕"/>
              </a:rPr>
              <a:t>•  3개 플랫폼을 합치고 키워드 추측 대신 실제 평점(1~2점=부정, 4~5점=긍정)으로 재라벨링</a:t>
            </a:r>
          </a:p>
          <a:p>
            <a:pPr>
              <a:spcAft>
                <a:spcPts val="700"/>
              </a:spcAft>
            </a:pPr>
            <a:r>
              <a:rPr sz="1450">
                <a:solidFill>
                  <a:srgbClr val="21293D"/>
                </a:solidFill>
                <a:latin typeface="맑은 고딕"/>
              </a:rPr>
              <a:t>•  무신사 데이터가 워낙 많아서 그대로 합치면 부정 비율이 다시 낮아짐 → 긍정 리뷰 수를 줄여서 부정 25% 비율로 맞춤</a:t>
            </a:r>
          </a:p>
          <a:p>
            <a:pPr>
              <a:spcAft>
                <a:spcPts val="700"/>
              </a:spcAft>
            </a:pPr>
            <a:r>
              <a:rPr sz="1450">
                <a:solidFill>
                  <a:srgbClr val="21293D"/>
                </a:solidFill>
                <a:latin typeface="맑은 고딕"/>
              </a:rPr>
              <a:t>•  최종 학습 데이터: 167,996건 (부정 41,999건 / 긍정 125,997건)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F3C7E"/>
                </a:solidFill>
                <a:latin typeface="맑은 고딕"/>
              </a:rPr>
              <a:t>03. AI 모델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F3C7E"/>
                </a:solidFill>
                <a:latin typeface="맑은 고딕"/>
              </a:rPr>
              <a:t>전처리 과정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411480" cy="411480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1783080"/>
            <a:ext cx="4526280" cy="502920"/>
          </a:xfrm>
          <a:prstGeom prst="roundRect">
            <a:avLst>
              <a:gd name="adj" fmla="val 15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783080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1293D"/>
                </a:solidFill>
                <a:latin typeface="맑은 고딕"/>
              </a:rPr>
              <a:t>결측치 제거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96312"/>
            <a:ext cx="411480" cy="411480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2496312"/>
            <a:ext cx="4526280" cy="502920"/>
          </a:xfrm>
          <a:prstGeom prst="roundRect">
            <a:avLst>
              <a:gd name="adj" fmla="val 15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496312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1293D"/>
                </a:solidFill>
                <a:latin typeface="맑은 고딕"/>
              </a:rPr>
              <a:t>정제 (한글·공백만 남기기)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209544"/>
            <a:ext cx="411480" cy="411480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9544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3209544"/>
            <a:ext cx="4526280" cy="502920"/>
          </a:xfrm>
          <a:prstGeom prst="roundRect">
            <a:avLst>
              <a:gd name="adj" fmla="val 15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209544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1293D"/>
                </a:solidFill>
                <a:latin typeface="맑은 고딕"/>
              </a:rPr>
              <a:t>중복 리뷰 제거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922776"/>
            <a:ext cx="411480" cy="411480"/>
          </a:xfrm>
          <a:prstGeom prst="ellipse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2277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" y="3922776"/>
            <a:ext cx="4526280" cy="502920"/>
          </a:xfrm>
          <a:prstGeom prst="roundRect">
            <a:avLst>
              <a:gd name="adj" fmla="val 15000"/>
            </a:avLst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3922776"/>
            <a:ext cx="4206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1293D"/>
                </a:solidFill>
                <a:latin typeface="맑은 고딕"/>
              </a:rPr>
              <a:t>형태소 분석 (Okt 토큰화)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00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748B"/>
                </a:solidFill>
                <a:latin typeface="맑은 고딕"/>
              </a:rPr>
              <a:t>※ 16만여 건 형태소 분석에 약 5분 소요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2801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F3C7E"/>
                </a:solidFill>
                <a:latin typeface="맑은 고딕"/>
              </a:rPr>
              <a:t>신경망 구조 (LSTM, 기준 모델)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2011680"/>
            <a:ext cx="1143000" cy="1463040"/>
          </a:xfrm>
          <a:prstGeom prst="roundRect">
            <a:avLst>
              <a:gd name="adj" fmla="val 10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2011680"/>
            <a:ext cx="996696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Embedding</a:t>
            </a: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(단어 임베딩)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2514600"/>
            <a:ext cx="256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6B748B"/>
                </a:solidFill>
                <a:latin typeface="맑은 고딕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44383" y="2011680"/>
            <a:ext cx="1143000" cy="146304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17536" y="2011680"/>
            <a:ext cx="996696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LSTM (64)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7384" y="2514600"/>
            <a:ext cx="256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6B748B"/>
                </a:solidFill>
                <a:latin typeface="맑은 고딕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43416" y="2011680"/>
            <a:ext cx="1143000" cy="1463040"/>
          </a:xfrm>
          <a:prstGeom prst="roundRect">
            <a:avLst>
              <a:gd name="adj" fmla="val 10000"/>
            </a:avLst>
          </a:prstGeom>
          <a:solidFill>
            <a:srgbClr val="E0A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16568" y="2011680"/>
            <a:ext cx="996696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Dense (16)</a:t>
            </a: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tanh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6416" y="2514600"/>
            <a:ext cx="256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6B748B"/>
                </a:solidFill>
                <a:latin typeface="맑은 고딕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42448" y="2011680"/>
            <a:ext cx="1143000" cy="1463040"/>
          </a:xfrm>
          <a:prstGeom prst="roundRect">
            <a:avLst>
              <a:gd name="adj" fmla="val 10000"/>
            </a:avLst>
          </a:prstGeom>
          <a:solidFill>
            <a:srgbClr val="12A4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2011680"/>
            <a:ext cx="996696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Dense (2)</a:t>
            </a: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FFFFF"/>
                </a:solidFill>
                <a:latin typeface="맑은 고딕"/>
              </a:rPr>
              <a:t>softmax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749039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1293D"/>
                </a:solidFill>
                <a:latin typeface="맑은 고딕"/>
              </a:rPr>
              <a:t>리뷰는 문장이라 단어의 순서·맥락이 중요 → 순환신경망(LSTM) 사용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1293D"/>
                </a:solidFill>
                <a:latin typeface="맑은 고딕"/>
              </a:rPr>
              <a:t>입력: 정수 인코딩 후 100단어 길이로 패딩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663440"/>
            <a:ext cx="5212080" cy="1508760"/>
          </a:xfrm>
          <a:prstGeom prst="roundRect">
            <a:avLst>
              <a:gd name="adj" fmla="val 6000"/>
            </a:avLst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773168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0A92A"/>
                </a:solidFill>
                <a:latin typeface="맑은 고딕"/>
              </a:rPr>
              <a:t>테스트 정확도 (LSTM)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102352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맑은 고딕"/>
              </a:rPr>
              <a:t>94.2%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779008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8CFE8"/>
                </a:solidFill>
                <a:latin typeface="맑은 고딕"/>
              </a:rPr>
              <a:t>부정 정밀도 89.7% · 재현율 86.6%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F3C7E"/>
                </a:solidFill>
                <a:latin typeface="맑은 고딕"/>
              </a:rPr>
              <a:t>모델 비교 — LSTM · GRU ·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48B"/>
                </a:solidFill>
                <a:latin typeface="맑은 고딕"/>
              </a:rPr>
              <a:t>동일한 데이터·전처리로 3가지 신경망 구조를 학습해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10515600" cy="566928"/>
          </a:xfrm>
          <a:prstGeom prst="rect">
            <a:avLst/>
          </a:prstGeom>
          <a:solidFill>
            <a:srgbClr val="2F3C7E"/>
          </a:solidFill>
          <a:ln w="9525">
            <a:solidFill>
              <a:srgbClr val="E2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737360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정확도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4064" y="1737360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부정 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93408" y="1737360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파라미터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1737360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학습시간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12096" y="1737360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에포크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304288"/>
            <a:ext cx="10515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304288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LSTM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04288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94.2%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2304288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88.2%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304288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130만개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304288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269초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2304288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871215"/>
            <a:ext cx="10515600" cy="566928"/>
          </a:xfrm>
          <a:prstGeom prst="rect">
            <a:avLst/>
          </a:prstGeom>
          <a:solidFill>
            <a:srgbClr val="E8F6F0"/>
          </a:solidFill>
          <a:ln w="9525">
            <a:solidFill>
              <a:srgbClr val="E2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871215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A47E"/>
                </a:solidFill>
                <a:latin typeface="맑은 고딕"/>
              </a:rPr>
              <a:t>GRU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871215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A47E"/>
                </a:solidFill>
                <a:latin typeface="맑은 고딕"/>
              </a:rPr>
              <a:t>94.3%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2871215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A47E"/>
                </a:solidFill>
                <a:latin typeface="맑은 고딕"/>
              </a:rPr>
              <a:t>88.5%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2871215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A47E"/>
                </a:solidFill>
                <a:latin typeface="맑은 고딕"/>
              </a:rPr>
              <a:t>130만개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871215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A47E"/>
                </a:solidFill>
                <a:latin typeface="맑은 고딕"/>
              </a:rPr>
              <a:t>207초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12096" y="2871215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A47E"/>
                </a:solidFill>
                <a:latin typeface="맑은 고딕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438144"/>
            <a:ext cx="10515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438144"/>
            <a:ext cx="2194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Transformer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438144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93.8%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4064" y="3438144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87.3%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3438144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129만개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3438144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118초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12096" y="3438144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1293D"/>
                </a:solidFill>
                <a:latin typeface="맑은 고딕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23367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2A47E"/>
                </a:solidFill>
                <a:latin typeface="맑은 고딕"/>
              </a:rPr>
              <a:t>GRU가 정확도와 부정 F1 모두 가장 높았고, 학습도 가장 적은 횟수(7회)로 끝났다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690872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>
                <a:solidFill>
                  <a:srgbClr val="21293D"/>
                </a:solidFill>
                <a:latin typeface="맑은 고딕"/>
              </a:rPr>
              <a:t>•  GRU는 구조가 LSTM보다 단순한데도 성능은 비슷하거나 더 좋았음 — 리뷰 문장이 짧아서 충분히 학습 가능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1293D"/>
                </a:solidFill>
                <a:latin typeface="맑은 고딕"/>
              </a:rPr>
              <a:t>•  Transformer는 학습 속도가 가장 빨랐지만(118초), 정확도는 셋 중 가장 낮았음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1293D"/>
                </a:solidFill>
                <a:latin typeface="맑은 고딕"/>
              </a:rPr>
              <a:t>•  리뷰가 최대 100단어 정도로 짧다 보니, 긴 문맥을 잘 보는 Transformer의 장점이 크게 드러나지 않은 것으로 보임</a:t>
            </a:r>
          </a:p>
          <a:p>
            <a:pPr>
              <a:spcAft>
                <a:spcPts val="600"/>
              </a:spcAft>
            </a:pPr>
            <a:r>
              <a:rPr sz="1350">
                <a:solidFill>
                  <a:srgbClr val="21293D"/>
                </a:solidFill>
                <a:latin typeface="맑은 고딕"/>
              </a:rPr>
              <a:t>•  이번 데이터 규모와 문장 길이에는 GRU가 가장 적합했음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</a:rPr>
              <a:t>04. 배포 및 시연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E0A92A"/>
                </a:solidFill>
                <a:latin typeface="맑은 고딕"/>
              </a:rPr>
              <a:t>Streamlit으로 웹 서비스 제작 — 4가지 기능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6607" y="169164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3A4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83867" y="1947672"/>
            <a:ext cx="594360" cy="59436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83867" y="1947672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767" y="2697480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맑은 고딕"/>
              </a:rPr>
              <a:t>전체 통계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3767" y="310896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CFD6EF"/>
                </a:solidFill>
                <a:latin typeface="맑은 고딕"/>
              </a:rPr>
              <a:t>감성 분포 · 평점 분포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CFD6EF"/>
                </a:solidFill>
                <a:latin typeface="맑은 고딕"/>
              </a:rPr>
              <a:t>키워드 Top 20 차트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9807" y="169164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3A4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27067" y="1947672"/>
            <a:ext cx="594360" cy="59436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7067" y="1947672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6967" y="2697480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맑은 고딕"/>
              </a:rPr>
              <a:t>상품별 리뷰 탐색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6967" y="310896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CFD6EF"/>
                </a:solidFill>
                <a:latin typeface="맑은 고딕"/>
              </a:rPr>
              <a:t>상품 선택 → 리뷰 목록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CFD6EF"/>
                </a:solidFill>
                <a:latin typeface="맑은 고딕"/>
              </a:rPr>
              <a:t>+ 긍정/부정 비율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69164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3A4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70267" y="1947672"/>
            <a:ext cx="594360" cy="59436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0267" y="1947672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2697480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맑은 고딕"/>
              </a:rPr>
              <a:t>실시간 감성 예측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310896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CFD6EF"/>
                </a:solidFill>
                <a:latin typeface="맑은 고딕"/>
              </a:rPr>
              <a:t>문장을 입력하면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CFD6EF"/>
                </a:solidFill>
                <a:latin typeface="맑은 고딕"/>
              </a:rPr>
              <a:t>즉석으로 긍/부정 판단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6207" y="1691640"/>
            <a:ext cx="2468880" cy="2286000"/>
          </a:xfrm>
          <a:prstGeom prst="roundRect">
            <a:avLst>
              <a:gd name="adj" fmla="val 6000"/>
            </a:avLst>
          </a:prstGeom>
          <a:solidFill>
            <a:srgbClr val="3A4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13467" y="1947672"/>
            <a:ext cx="594360" cy="59436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13467" y="1947672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3367" y="2697480"/>
            <a:ext cx="2194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맑은 고딕"/>
              </a:rPr>
              <a:t>모델 선택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3367" y="310896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CFD6EF"/>
                </a:solidFill>
                <a:latin typeface="맑은 고딕"/>
              </a:rPr>
              <a:t>LSTM·GRU·Transformer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CFD6EF"/>
                </a:solidFill>
                <a:latin typeface="맑은 고딕"/>
              </a:rPr>
              <a:t>중 골라서 비교 가능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251960"/>
            <a:ext cx="10360152" cy="1828800"/>
          </a:xfrm>
          <a:prstGeom prst="roundRect">
            <a:avLst>
              <a:gd name="adj" fmla="val 6000"/>
            </a:avLst>
          </a:prstGeom>
          <a:solidFill>
            <a:srgbClr val="242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434840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0A92A"/>
                </a:solidFill>
                <a:latin typeface="맑은 고딕"/>
              </a:rPr>
              <a:t>시연 영상에서 보여줄 내용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846320"/>
            <a:ext cx="9784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맑은 고딕"/>
              </a:rPr>
              <a:t>1. 상품별 리뷰 탐색 페이지에서 리뷰와 감성 비율 확인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맑은 고딕"/>
              </a:rPr>
              <a:t>2. “촉촉하고 발림성도 좋아서 재구매 했어요” 입력 → 긍정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맑은 고딕"/>
              </a:rPr>
              <a:t>3. “피부에 트러블이 생겨서 너무 실망이에요” 입력 → 부정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맑은 고딕"/>
              </a:rPr>
              <a:t>4. 모델을 GRU·Transformer로 바꿔서 같은 문장 다시 예측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